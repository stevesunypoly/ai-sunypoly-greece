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8345F-0A7D-DD14-F5EB-2AE536268881}" v="80" dt="2026-04-29T19:20:57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AB075-09EF-412A-858B-B6FDBB71A8F6}" type="datetimeFigureOut"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55864-8471-49E3-85C6-55BCD9011FC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8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67C5E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029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Education,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Career Prospects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AI Revolution in Academia and the Workforce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7724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154680"/>
            <a:ext cx="2606040" cy="150876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154680"/>
            <a:ext cx="2606040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2186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William Thistleton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841248" y="36301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Chair, Data Science &amp; Analytics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Co-Director, AIX Center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520440" y="3154680"/>
            <a:ext cx="2606040" cy="150876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3154680"/>
            <a:ext cx="2606040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32186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Steven Schneider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3630168" y="36301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of Communications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Co-Director, AIX Center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2606040" cy="150876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154680"/>
            <a:ext cx="2606040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2186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Daniel Romero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6419088" y="36301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Professor, Data Science &amp; Analytics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AIX Center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9436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Inflection Point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097280" y="1307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and why it matters now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64792"/>
            <a:ext cx="59436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6479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097280" y="18379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Higher Education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097280" y="2112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pedagogy, and institutional change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69464"/>
            <a:ext cx="59436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6946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1097280" y="26426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Landscapes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097280" y="2916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disappearing, emerging, and transforming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74136"/>
            <a:ext cx="59436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7413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09728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AIX Initiative at SUNY Poly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097280" y="3721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for experiential AI education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78808"/>
            <a:ext cx="59436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7880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1097280" y="4251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Students for What's Next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097280" y="4526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mindsets, and lifelong learning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The AI Inflection Point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920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3400"/>
          </a:p>
        </p:txBody>
      </p:sp>
      <p:sp>
        <p:nvSpPr>
          <p:cNvPr id="7" name="Text 5"/>
          <p:cNvSpPr/>
          <p:nvPr/>
        </p:nvSpPr>
        <p:spPr>
          <a:xfrm>
            <a:off x="429768" y="19202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potentially impacted by AI globally (Goldman Sachs, 2023)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920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$15.7T</a:t>
            </a:r>
            <a:endParaRPr lang="en-US" sz="3400"/>
          </a:p>
        </p:txBody>
      </p:sp>
      <p:sp>
        <p:nvSpPr>
          <p:cNvPr id="11" name="Text 9"/>
          <p:cNvSpPr/>
          <p:nvPr/>
        </p:nvSpPr>
        <p:spPr>
          <a:xfrm>
            <a:off x="3310128" y="19202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AI contribution to global economy by 2030 (PwC)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1920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65176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3400"/>
          </a:p>
        </p:txBody>
      </p:sp>
      <p:sp>
        <p:nvSpPr>
          <p:cNvPr id="15" name="Text 13"/>
          <p:cNvSpPr/>
          <p:nvPr/>
        </p:nvSpPr>
        <p:spPr>
          <a:xfrm>
            <a:off x="6190488" y="19202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workers' core skills will change by 2027 (WEF Future of Jobs)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8503920" cy="150876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3063240"/>
            <a:ext cx="73152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54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at a historic inflection point. The question for higher education</a:t>
            </a:r>
            <a:endParaRPr lang="en-US" sz="1300"/>
          </a:p>
          <a:p>
            <a:pPr marL="0" indent="0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whether AI changes our work — but whether we lead that change."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AIX @ SUNY Poly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Reshaping Higher Education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776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7764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Curricula that lag industry by 3–5 years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unfamiliar with AI tools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in the age of GenAI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graduating students unprepared for AI-native workplaces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Inequitable access to AI tools &amp; training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977640" cy="41148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397764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pedagogical accelerator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at scale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interdisciplinary programs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partnerships around AI co-op models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 via AI-enhanced remote learning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Career Landscapes in the Age of AI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3840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2651760" cy="43891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29768" y="1417320"/>
            <a:ext cx="2423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&amp; basic analysis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report generation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coding tasks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content creation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3840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868680"/>
            <a:ext cx="2651760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310128" y="1417320"/>
            <a:ext cx="2423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methodologies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design work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51760" cy="3840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0760" y="868680"/>
            <a:ext cx="2651760" cy="43891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6190488" y="1417320"/>
            <a:ext cx="2423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&amp; governance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collaboration design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AI is not replacing humans — it is replacing humans who don't know how to use AI.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The AIX Initiative @ SUNY Poly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Experiential Learning  ·  Research  ·  Industry Partnership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3931920" cy="1600200"/>
          </a:xfrm>
          <a:prstGeom prst="rect">
            <a:avLst/>
          </a:prstGeom>
          <a:solidFill>
            <a:srgbClr val="1A305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Curriculum Integration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woven into every major — not just CS. From nursing to business to engineering.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3931920" cy="1600200"/>
          </a:xfrm>
          <a:prstGeom prst="rect">
            <a:avLst/>
          </a:prstGeom>
          <a:solidFill>
            <a:srgbClr val="1A305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37160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Applied Research Lab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754880" y="190195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co-author real AI research alongside faculty and industry partners.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3931920" cy="1600200"/>
          </a:xfrm>
          <a:prstGeom prst="rect">
            <a:avLst/>
          </a:prstGeom>
          <a:solidFill>
            <a:srgbClr val="1A305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546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Industry Partnerships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57200" y="368503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engagement, co-op placements, and project-based AI learning with real datasets.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617720" y="3154680"/>
            <a:ext cx="3931920" cy="1600200"/>
          </a:xfrm>
          <a:prstGeom prst="rect">
            <a:avLst/>
          </a:prstGeom>
          <a:solidFill>
            <a:srgbClr val="1A305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31546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Community &amp; Outreach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754880" y="368503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pipeline programs, professional upskilling, and regional AI workforce development.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Preparing Students for What's Next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T-Shaped AI Professional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AI LITERACY  —  Prompt engineering · Data fluency · AI ethics · Critical evaluation of AI outputs · Collaboration with AI tools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749040" y="2331720"/>
            <a:ext cx="1645920" cy="2377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3749040" y="233172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DOMAIN EXPERTISE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Statistics  •  Machine Learning</a:t>
            </a:r>
            <a:endParaRPr lang="en-US" sz="1100"/>
          </a:p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Modeling  •  Research Methods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532120" y="246888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 •  Ethics  •  Problem Framing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 •  Cross-disciplinary Teamwork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human skills remain the differentiator — AI amplifies them.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Perspectives on AI &amp; Education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78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 EU AI Act &amp; Education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8001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leads on AI governance. Universities must produce graduates who understand compliance, risk categories, and responsible AI deployment.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842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Bologna Process Meets AI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8001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credit frameworks are adapting. Micro-credentials, AI-augmented assessments, and stackable qualifications are reshaping degree pathways.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900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Global Talent &amp; Mobility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94360" y="3328416"/>
            <a:ext cx="8001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are now a global lingua franca. Universities that embed AI deeply into all disciplines will produce the most competitive graduates.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959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Transatlantic Collaboration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94360" y="4334256"/>
            <a:ext cx="8001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US-EU partnerships in AI education and workforce development are a strategic opportunity — AIX is ready to engage.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 for Universities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50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960120" y="969264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 literacy across ALL disciplines — not just STEM programs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60120" y="1636776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curricula on 12-18 month cycles to match industry AI adoption speed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faculty AI development — professors must use AI to teach AI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experiential learning partnerships with AI-native industries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960120" y="3639312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ethical AI frameworks into policies, programs, and teaching practice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365760" y="428853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960120" y="4306824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clear institutional positions on GenAI in assessment &amp; research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4892040"/>
            <a:ext cx="5029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 Center  |  SUNY Polytechnic Institute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858000" y="4892040"/>
            <a:ext cx="2057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2860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560320" cy="2560320"/>
          </a:xfrm>
          <a:prstGeom prst="ellipse">
            <a:avLst/>
          </a:prstGeom>
          <a:solidFill>
            <a:srgbClr val="67C5E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4572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Not</a:t>
            </a:r>
            <a:endParaRPr lang="en-US" sz="3600"/>
          </a:p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Happens</a:t>
            </a:r>
            <a:endParaRPr lang="en-US" sz="3600"/>
          </a:p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Us.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something we design.</a:t>
            </a:r>
            <a:endParaRPr lang="en-US" sz="220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74720"/>
            <a:ext cx="73152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A8DADC"/>
                </a:solidFill>
                <a:latin typeface="Calibri"/>
                <a:ea typeface="Calibri"/>
                <a:cs typeface="Calibri"/>
              </a:rPr>
              <a:t>Profs Thistleton, Schneider, and Romero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>
                <a:solidFill>
                  <a:srgbClr val="A8DADC"/>
                </a:solidFill>
                <a:latin typeface="Calibri"/>
                <a:ea typeface="Calibri"/>
                <a:cs typeface="Calibri"/>
              </a:rPr>
              <a:t>AIX @ SUNY Polytechnic Institute</a:t>
            </a:r>
            <a:endParaRPr lang="en-US" sz="1300">
              <a:latin typeface="Calibri"/>
              <a:ea typeface="Calibri"/>
              <a:cs typeface="Calibri"/>
            </a:endParaRPr>
          </a:p>
          <a:p>
            <a:r>
              <a:rPr lang="en-US" sz="1300">
                <a:solidFill>
                  <a:srgbClr val="A8DADC"/>
                </a:solidFill>
                <a:latin typeface="Calibri"/>
                <a:ea typeface="Calibri"/>
                <a:cs typeface="Calibri"/>
              </a:rPr>
              <a:t>Data Science &amp; Analytics (DSA)</a:t>
            </a:r>
          </a:p>
          <a:p>
            <a:r>
              <a:rPr lang="en-US" sz="1300">
                <a:solidFill>
                  <a:srgbClr val="A8DADC"/>
                </a:solidFill>
                <a:latin typeface="Calibri"/>
                <a:ea typeface="Calibri"/>
                <a:cs typeface="Calibri"/>
              </a:rPr>
              <a:t>Information Design, and Technology (IDT)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— and let's build it together.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F775F93A41F94A9009017E02EBE91C" ma:contentTypeVersion="10" ma:contentTypeDescription="Create a new document." ma:contentTypeScope="" ma:versionID="7315e1391bc7c3b14e447b177af2a334">
  <xsd:schema xmlns:xsd="http://www.w3.org/2001/XMLSchema" xmlns:xs="http://www.w3.org/2001/XMLSchema" xmlns:p="http://schemas.microsoft.com/office/2006/metadata/properties" xmlns:ns2="bbd473be-810f-431e-ae14-890f73c62e6d" xmlns:ns3="64171700-89c7-41fc-bb48-99c65f58b835" targetNamespace="http://schemas.microsoft.com/office/2006/metadata/properties" ma:root="true" ma:fieldsID="d05a82ae7d20ad962287ab36863012e1" ns2:_="" ns3:_="">
    <xsd:import namespace="bbd473be-810f-431e-ae14-890f73c62e6d"/>
    <xsd:import namespace="64171700-89c7-41fc-bb48-99c65f58b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473be-810f-431e-ae14-890f73c62e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fa85715-0547-47bf-9ab5-4030085027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71700-89c7-41fc-bb48-99c65f58b83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b437a37-80e5-4dc5-96ed-0b6a01411b2f}" ma:internalName="TaxCatchAll" ma:showField="CatchAllData" ma:web="64171700-89c7-41fc-bb48-99c65f58b8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171700-89c7-41fc-bb48-99c65f58b835" xsi:nil="true"/>
    <lcf76f155ced4ddcb4097134ff3c332f xmlns="bbd473be-810f-431e-ae14-890f73c62e6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F790EF-978C-4099-A10A-97DB029F68F0}">
  <ds:schemaRefs>
    <ds:schemaRef ds:uri="64171700-89c7-41fc-bb48-99c65f58b835"/>
    <ds:schemaRef ds:uri="bbd473be-810f-431e-ae14-890f73c62e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BDC2AA-92ED-4753-A03B-D450A6C53E85}">
  <ds:schemaRefs>
    <ds:schemaRef ds:uri="64171700-89c7-41fc-bb48-99c65f58b835"/>
    <ds:schemaRef ds:uri="bbd473be-810f-431e-ae14-890f73c62e6d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2EEFA24-223B-4EB4-BB4F-442DCA5E9F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Higher Education, AI &amp; Career Prospects</dc:title>
  <dc:subject>PptxGenJS Presentation</dc:subject>
  <dc:creator>Data Science Professor, SUNY Poly</dc:creator>
  <cp:revision>4</cp:revision>
  <dcterms:created xsi:type="dcterms:W3CDTF">2026-04-29T19:15:30Z</dcterms:created>
  <dcterms:modified xsi:type="dcterms:W3CDTF">2026-04-29T19:27:52Z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0x0101005BF775F93A41F94A9009017E02EBE91C</vt:lpwstr>
  </property>
  <property fmtid="{D5CDD505-2E9C-101B-9397-08002B2CF9AE}" pid="3" name="MediaServiceImageTags">
    <vt:lpwstr/>
  </property>
</Properties>
</file>